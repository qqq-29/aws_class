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2671bac5a7e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2671bac5a7e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2671bac5a7e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2671bac5a7e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2671bac5a7e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2671bac5a7e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2671bac5a7e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2671bac5a7e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2671bac5a7e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2671bac5a7e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2671bac5a7e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2671bac5a7e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2671bac5a7e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2671bac5a7e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671bac5a7e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2671bac5a7e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2671bac5a7e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2671bac5a7e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2671bac5a7e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2671bac5a7e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9050" y="748800"/>
            <a:ext cx="3645900" cy="3645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2992950" y="992700"/>
            <a:ext cx="3158100" cy="3158100"/>
          </a:xfrm>
          <a:prstGeom prst="rect">
            <a:avLst/>
          </a:prstGeom>
          <a:noFill/>
          <a:ln cap="flat" cmpd="sng" w="28575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96250" y="1627200"/>
            <a:ext cx="2951400" cy="158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96363" y="3266930"/>
            <a:ext cx="2951400" cy="70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509550" y="1423875"/>
            <a:ext cx="8124900" cy="179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91378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2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107950"/>
            <a:ext cx="4045200" cy="168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233100"/>
            <a:ext cx="8520600" cy="161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29194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coral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3096250" y="1627200"/>
            <a:ext cx="2951400" cy="158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키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슈퍼키</a:t>
            </a:r>
            <a:endParaRPr/>
          </a:p>
        </p:txBody>
      </p:sp>
      <p:sp>
        <p:nvSpPr>
          <p:cNvPr id="65" name="Google Shape;65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테이블에서 행을 유일하게 식별할 수 있는 하나의 속성 혹은 속성의 집합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행을 유일하게 식별할 수 있는 값이면 모두가 슈퍼키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예 : 대학생 릴레이션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대학생(학번, 이름, 과, 학년, 주민번호, 주소)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슈퍼키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[학번], [학번, 이름], [주민번호], [학번, 주민번호] 등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후보키</a:t>
            </a:r>
            <a:endParaRPr/>
          </a:p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행을 유일하게 식별할 수 있는 속성의 최소 집합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예 : 대학생 릴레이션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대학생(학번, 이름, 과, 학년, 주민번호, 주소)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후보키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[학번], [주민번호]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복합키</a:t>
            </a:r>
            <a:endParaRPr/>
          </a:p>
        </p:txBody>
      </p:sp>
      <p:sp>
        <p:nvSpPr>
          <p:cNvPr id="77" name="Google Shape;7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두 개 이상의 속성으로 이루어진 키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기본키</a:t>
            </a:r>
            <a:endParaRPr/>
          </a:p>
        </p:txBody>
      </p:sp>
      <p:sp>
        <p:nvSpPr>
          <p:cNvPr id="83" name="Google Shape;83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여러 후보 키 중 선정된 대표 키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예 : 대학생 릴레이션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대학생(학번, 이름, 과, 학년, 주민번호, 주소)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기본키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[학번]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[주민번호]도 가능하나 의미상 학번이 더 적절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대리키</a:t>
            </a:r>
            <a:endParaRPr/>
          </a:p>
        </p:txBody>
      </p:sp>
      <p:sp>
        <p:nvSpPr>
          <p:cNvPr id="89" name="Google Shape;89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다음과 같은 상황에서 대리키를 이용하여 기본키로 사용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기본키가 보안을 요구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기본키가 여러개의 속성으로 구성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마땅한 기본키가 없는 경우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새로운 속성을 대리키로 지정해서 사용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일반적으로 1,2,3… 와 같은 대리키를 이용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대체키</a:t>
            </a:r>
            <a:endParaRPr/>
          </a:p>
        </p:txBody>
      </p:sp>
      <p:sp>
        <p:nvSpPr>
          <p:cNvPr id="95" name="Google Shape;95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기본키로 선정되지 않은 후보키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예 : 대학생 릴레이션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대학생(학번, 이름, 과, 학년, 주민번호, 주소)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대체키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[이름, 과, 학년, 주소] [주민번호] 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외래키</a:t>
            </a:r>
            <a:endParaRPr/>
          </a:p>
        </p:txBody>
      </p:sp>
      <p:sp>
        <p:nvSpPr>
          <p:cNvPr id="101" name="Google Shape;101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다른 테이블의 기본키를 참조하는 속성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참조 무결성을 지켜야 함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외래키는 다른 테이블의 기본키에 있는 값만 저장 가능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NULL, 중복 가능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외래키가 기본키의 일부가 될 수 있다(식별 관계)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/>
          <p:cNvSpPr txBox="1"/>
          <p:nvPr>
            <p:ph type="ctrTitle"/>
          </p:nvPr>
        </p:nvSpPr>
        <p:spPr>
          <a:xfrm>
            <a:off x="3096250" y="1627200"/>
            <a:ext cx="2951400" cy="158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무결성 제약조건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개체 무결성 제약조건</a:t>
            </a:r>
            <a:endParaRPr/>
          </a:p>
        </p:txBody>
      </p:sp>
      <p:sp>
        <p:nvSpPr>
          <p:cNvPr id="112" name="Google Shape;112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기본키 제약 조건이라고도 함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기본키는 NULL값을 가질 수 없다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기본키로 검색하면 </a:t>
            </a:r>
            <a:r>
              <a:rPr lang="ko"/>
              <a:t>테이블에서 오직 하나의 </a:t>
            </a:r>
            <a:r>
              <a:rPr lang="ko"/>
              <a:t>행</a:t>
            </a:r>
            <a:r>
              <a:rPr lang="ko"/>
              <a:t>만 존재한다(최대)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3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참조 무결성</a:t>
            </a:r>
            <a:endParaRPr/>
          </a:p>
        </p:txBody>
      </p:sp>
      <p:sp>
        <p:nvSpPr>
          <p:cNvPr id="118" name="Google Shape;118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외래키 제약조건이라고도 한다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외래키는 상대 테이블의 기본키와 타입이 같아야 한다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상대 테이블의 기본키가 변경되면 외래키도 변경되어야 한다.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테이블의 기본키가 다른 테이블에서 참조(외래키로) 되고 있을 때 테이블의 기본키 변경 시 참조 테이블에서 어떻게 할지를 정하는 방법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RESTRICTED : 참조 하고 있는 경우 수정/삭제 거부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CASCADE : 참조하고 있는 경우 수정/삭제 시 동일하게 처리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DEFAULT</a:t>
            </a:r>
            <a:r>
              <a:rPr lang="ko"/>
              <a:t> : 참조하고 있는 경우 수정/삭제 시 기본값으로 처리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NULL : 참조하고 있는 경우 수정/삭제 시 NULL 값으로 처리(NULL 허용인 경우)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oral">
  <a:themeElements>
    <a:clrScheme name="Coral">
      <a:dk1>
        <a:srgbClr val="F55E61"/>
      </a:dk1>
      <a:lt1>
        <a:srgbClr val="FFFFFF"/>
      </a:lt1>
      <a:dk2>
        <a:srgbClr val="5E696C"/>
      </a:dk2>
      <a:lt2>
        <a:srgbClr val="BFC7CA"/>
      </a:lt2>
      <a:accent1>
        <a:srgbClr val="1E2D31"/>
      </a:accent1>
      <a:accent2>
        <a:srgbClr val="273C42"/>
      </a:accent2>
      <a:accent3>
        <a:srgbClr val="83D061"/>
      </a:accent3>
      <a:accent4>
        <a:srgbClr val="F6CD4C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