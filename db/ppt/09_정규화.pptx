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b50f8d28a5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b50f8d28a5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92818375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692818375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692818375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692818375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b954fd0d68_1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b954fd0d68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cd36ff3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1cd36ff3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cd36ff3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1cd36ff3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1cd36ff3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1cd36ff3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1cd36ff3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1cd36ff3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 sz="18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b="0" sz="48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coral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b="1" sz="3200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정규화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정규화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데이터베이스 설계에서 데이터 중복을 최소화하고, 무결성을 유지하기 위해 데이터를 구조화하는 과정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제1정규화 : 원자값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제2정규화 : 부분 함수 종속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제3정규화 : 이행 함수 종속 제거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BCNF : 복합키 내에서 종속성 제거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 1정규화</a:t>
            </a:r>
            <a:endParaRPr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“</a:t>
            </a:r>
            <a:r>
              <a:rPr lang="ko"/>
              <a:t>한 칸에는 무조건 하나의 값만 들어있어야 한다”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컬럼의 값이 ,로 여러 값이 들어가 있으면 분리한다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제2정규화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“</a:t>
            </a:r>
            <a:r>
              <a:rPr lang="ko"/>
              <a:t>기본키가 복합키일 때, 컬럼이 기본키의 일부에 종속되면 분리한다.”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부분 함수 종속 제거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제3정규화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“</a:t>
            </a:r>
            <a:r>
              <a:rPr lang="ko"/>
              <a:t>기본키가 아닌 속성들끼리 종속 관계가 있으면 분리한다.”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A-&gt;B, B-&gt;C, A-&gt;C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이행적 함수 종속 제거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BCNF(</a:t>
            </a:r>
            <a:r>
              <a:rPr lang="ko"/>
              <a:t>보이스-코드 정규화)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/>
              <a:t>“</a:t>
            </a:r>
            <a:r>
              <a:rPr lang="ko"/>
              <a:t>복합키 내에서 종속 관계일 때 분리”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 1정규화</a:t>
            </a:r>
            <a:endParaRPr/>
          </a:p>
        </p:txBody>
      </p:sp>
      <p:pic>
        <p:nvPicPr>
          <p:cNvPr id="95" name="Google Shape;9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2775"/>
            <a:ext cx="7591901" cy="92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2834350"/>
            <a:ext cx="5834176" cy="10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6" y="3934521"/>
            <a:ext cx="2496750" cy="9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2939975" y="753950"/>
            <a:ext cx="2559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ENROLLMENT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6411850" y="3039325"/>
            <a:ext cx="2559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ENROLLMENT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2939975" y="4191225"/>
            <a:ext cx="2559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CONTACT </a:t>
            </a: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4079725" y="2238600"/>
            <a:ext cx="590400" cy="467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2" name="Google Shape;102;p19"/>
          <p:cNvSpPr txBox="1"/>
          <p:nvPr/>
        </p:nvSpPr>
        <p:spPr>
          <a:xfrm>
            <a:off x="4810350" y="2291200"/>
            <a:ext cx="1367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제1정규화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 2정규화</a:t>
            </a:r>
            <a:endParaRPr/>
          </a:p>
        </p:txBody>
      </p:sp>
      <p:pic>
        <p:nvPicPr>
          <p:cNvPr id="108" name="Google Shape;10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525" y="1142238"/>
            <a:ext cx="5834176" cy="10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0"/>
          <p:cNvSpPr txBox="1"/>
          <p:nvPr/>
        </p:nvSpPr>
        <p:spPr>
          <a:xfrm>
            <a:off x="2986750" y="608250"/>
            <a:ext cx="2559900" cy="4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ENROLLMENT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4079725" y="2238600"/>
            <a:ext cx="590400" cy="467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4810350" y="2291200"/>
            <a:ext cx="1367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제2정규화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12" name="Google Shape;11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095" y="2815925"/>
            <a:ext cx="2260225" cy="8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88798" y="3874850"/>
            <a:ext cx="6102538" cy="87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85171" y="2815921"/>
            <a:ext cx="2559900" cy="794452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187500" y="3874850"/>
            <a:ext cx="17004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SUBJECT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187500" y="2854075"/>
            <a:ext cx="17004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ENROLLMENT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177975" y="2752625"/>
            <a:ext cx="17004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STUDENT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제 3정규화</a:t>
            </a:r>
            <a:endParaRPr/>
          </a:p>
        </p:txBody>
      </p:sp>
      <p:sp>
        <p:nvSpPr>
          <p:cNvPr id="123" name="Google Shape;123;p21"/>
          <p:cNvSpPr/>
          <p:nvPr/>
        </p:nvSpPr>
        <p:spPr>
          <a:xfrm>
            <a:off x="4079725" y="2238600"/>
            <a:ext cx="590400" cy="467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4" name="Google Shape;124;p21"/>
          <p:cNvSpPr txBox="1"/>
          <p:nvPr/>
        </p:nvSpPr>
        <p:spPr>
          <a:xfrm>
            <a:off x="4810350" y="2291200"/>
            <a:ext cx="13677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제3정규화</a:t>
            </a:r>
            <a:endParaRPr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0923" y="1262200"/>
            <a:ext cx="6102538" cy="8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/>
        </p:nvSpPr>
        <p:spPr>
          <a:xfrm>
            <a:off x="510525" y="1338500"/>
            <a:ext cx="17004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SUBJECT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7" name="Google Shape;1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272" y="3464475"/>
            <a:ext cx="3982101" cy="77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15668" y="3464475"/>
            <a:ext cx="3493654" cy="8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1"/>
          <p:cNvSpPr txBox="1"/>
          <p:nvPr/>
        </p:nvSpPr>
        <p:spPr>
          <a:xfrm>
            <a:off x="1128550" y="2975150"/>
            <a:ext cx="23433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SUBJECT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0" name="Google Shape;130;p21"/>
          <p:cNvSpPr txBox="1"/>
          <p:nvPr/>
        </p:nvSpPr>
        <p:spPr>
          <a:xfrm>
            <a:off x="6090850" y="2905025"/>
            <a:ext cx="2343300" cy="7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PROFESSOR</a:t>
            </a:r>
            <a:r>
              <a:rPr lang="ko" sz="1800">
                <a:solidFill>
                  <a:srgbClr val="FF0000"/>
                </a:solidFill>
                <a:highlight>
                  <a:schemeClr val="lt2"/>
                </a:highlight>
                <a:latin typeface="Lato"/>
                <a:ea typeface="Lato"/>
                <a:cs typeface="Lato"/>
                <a:sym typeface="Lato"/>
              </a:rPr>
              <a:t> 테이블</a:t>
            </a:r>
            <a:endParaRPr sz="1800">
              <a:solidFill>
                <a:srgbClr val="FF0000"/>
              </a:solidFill>
              <a:highlight>
                <a:schemeClr val="lt2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