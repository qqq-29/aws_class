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2b50f8d28a5_0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2b50f8d28a5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26928183752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26928183752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2692818375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2692818375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2b954fd0d68_1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2b954fd0d68_1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9050" y="748800"/>
            <a:ext cx="3645900" cy="3645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2992950" y="992700"/>
            <a:ext cx="3158100" cy="3158100"/>
          </a:xfrm>
          <a:prstGeom prst="rect">
            <a:avLst/>
          </a:prstGeom>
          <a:noFill/>
          <a:ln cap="flat" cmpd="sng" w="28575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096250" y="1627200"/>
            <a:ext cx="2951400" cy="158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096363" y="3266930"/>
            <a:ext cx="2951400" cy="70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509550" y="1423875"/>
            <a:ext cx="8124900" cy="179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311700" y="1391378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7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2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0" name="Google Shape;4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9"/>
          <p:cNvSpPr txBox="1"/>
          <p:nvPr>
            <p:ph type="title"/>
          </p:nvPr>
        </p:nvSpPr>
        <p:spPr>
          <a:xfrm>
            <a:off x="265500" y="1107950"/>
            <a:ext cx="4045200" cy="168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9"/>
          <p:cNvSpPr txBox="1"/>
          <p:nvPr>
            <p:ph idx="1" type="subTitle"/>
          </p:nvPr>
        </p:nvSpPr>
        <p:spPr>
          <a:xfrm>
            <a:off x="265500" y="28452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7" name="Google Shape;47;p10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233100"/>
            <a:ext cx="8520600" cy="161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291945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coral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  <a:defRPr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3096250" y="1627200"/>
            <a:ext cx="2951400" cy="158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뷰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뷰</a:t>
            </a:r>
            <a:endParaRPr/>
          </a:p>
        </p:txBody>
      </p:sp>
      <p:sp>
        <p:nvSpPr>
          <p:cNvPr id="65" name="Google Shape;65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물리적으로 데이터를 저장하지 않음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사용자에게는 일반 테이블과 똑같이 보이는 </a:t>
            </a:r>
            <a:r>
              <a:rPr lang="ko">
                <a:solidFill>
                  <a:srgbClr val="FF0000"/>
                </a:solidFill>
              </a:rPr>
              <a:t>가상 테이블</a:t>
            </a:r>
            <a:endParaRPr>
              <a:solidFill>
                <a:srgbClr val="FF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하나의 SELECT 문이 저장된 객체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사용하는 이유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ko"/>
              <a:t>보안 : 원본 테이블의 민감한 컬럼을 숨기고 필요한 정보만 선별해서 보여줌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ko"/>
              <a:t>편의성 : 여러 개의 테이블을 JOIN한 뷰를 만들면 </a:t>
            </a:r>
            <a:r>
              <a:rPr lang="ko">
                <a:solidFill>
                  <a:srgbClr val="FF0000"/>
                </a:solidFill>
                <a:highlight>
                  <a:schemeClr val="lt2"/>
                </a:highlight>
              </a:rPr>
              <a:t>SELECT * FROM 뷰이름</a:t>
            </a:r>
            <a:r>
              <a:rPr lang="ko"/>
              <a:t> 을 통해 간단히 조회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ko"/>
              <a:t>독립성 : 원본 테이블 구조가 바뀌어도 뷰의 쿼리문만 수정하면 기존 방식 그대로 데이터 조회 가능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뷰의 특징</a:t>
            </a:r>
            <a:endParaRPr/>
          </a:p>
        </p:txBody>
      </p:sp>
      <p:sp>
        <p:nvSpPr>
          <p:cNvPr id="71" name="Google Shape;71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비저장성 : 실제 데이터는 원본 테이블에 있음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독립적인 인덱스 불가 : 뷰는 자체적으로 인덱스를 가질 수 없음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구조 변경의 제한 : 원본 테이블을 삭제하면 뷰도 사용할 수 없음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ko"/>
              <a:t>조작 제한 : 집계함수가 포함된 뷰는 데이터를 수정 할 수 없음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핵심 문법</a:t>
            </a:r>
            <a:endParaRPr/>
          </a:p>
        </p:txBody>
      </p:sp>
      <p:sp>
        <p:nvSpPr>
          <p:cNvPr id="77" name="Google Shape;7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뷰 생성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    CREATE VIEW </a:t>
            </a:r>
            <a:r>
              <a:rPr lang="ko"/>
              <a:t>뷰이름 AS SELECT문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뷰 조회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   SELECT * FROM 뷰이름;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뷰 삭제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  DROP VIEW 뷰이름;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UPDATE </a:t>
            </a:r>
            <a:r>
              <a:rPr lang="ko"/>
              <a:t>가능 여부</a:t>
            </a:r>
            <a:endParaRPr/>
          </a:p>
        </p:txBody>
      </p:sp>
      <p:sp>
        <p:nvSpPr>
          <p:cNvPr id="83" name="Google Shape;83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1</a:t>
            </a:r>
            <a:r>
              <a:rPr lang="ko"/>
              <a:t>개 테이블로 만든 뷰는 수정 시 원본도 바뀜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ko"/>
              <a:t>JOIN이나 집계함수를 쓴 뷰는 수정이 불가능하거나 제한적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oral">
  <a:themeElements>
    <a:clrScheme name="Coral">
      <a:dk1>
        <a:srgbClr val="F55E61"/>
      </a:dk1>
      <a:lt1>
        <a:srgbClr val="FFFFFF"/>
      </a:lt1>
      <a:dk2>
        <a:srgbClr val="5E696C"/>
      </a:dk2>
      <a:lt2>
        <a:srgbClr val="BFC7CA"/>
      </a:lt2>
      <a:accent1>
        <a:srgbClr val="1E2D31"/>
      </a:accent1>
      <a:accent2>
        <a:srgbClr val="273C42"/>
      </a:accent2>
      <a:accent3>
        <a:srgbClr val="83D061"/>
      </a:accent3>
      <a:accent4>
        <a:srgbClr val="F6CD4C"/>
      </a:accent4>
      <a:accent5>
        <a:srgbClr val="AF4345"/>
      </a:accent5>
      <a:accent6>
        <a:srgbClr val="F58F8F"/>
      </a:accent6>
      <a:hlink>
        <a:srgbClr val="AF4345"/>
      </a:hlink>
      <a:folHlink>
        <a:srgbClr val="AF434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