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4583D12-B14B-48D6-8EF4-A9D752728F06}">
  <a:tblStyle styleId="{14583D12-B14B-48D6-8EF4-A9D752728F0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20" Type="http://schemas.openxmlformats.org/officeDocument/2006/relationships/slide" Target="slides/slide14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22" Type="http://schemas.openxmlformats.org/officeDocument/2006/relationships/slide" Target="slides/slide16.xml"/><Relationship Id="rId66" Type="http://schemas.openxmlformats.org/officeDocument/2006/relationships/slide" Target="slides/slide60.xml"/><Relationship Id="rId21" Type="http://schemas.openxmlformats.org/officeDocument/2006/relationships/slide" Target="slides/slide15.xml"/><Relationship Id="rId65" Type="http://schemas.openxmlformats.org/officeDocument/2006/relationships/slide" Target="slides/slide59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60" Type="http://schemas.openxmlformats.org/officeDocument/2006/relationships/slide" Target="slides/slide54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slide" Target="slides/slide53.xml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2b50f8d28a5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2b50f8d28a5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2b50f8d28a5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2b50f8d28a5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2b50f8d28a5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2b50f8d28a5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2b50f8d28a5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2b50f8d28a5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2b50f8d28a5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2b50f8d28a5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2b50f8d28a5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2b50f8d28a5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b50f8d28a5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2b50f8d28a5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2b50f8d28a5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2b50f8d28a5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2b50f8d28a5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2b50f8d28a5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2b50f8d28a5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2b50f8d28a5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2b553a5c4a9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2b553a5c4a9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2b553a5c4a9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2b553a5c4a9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2b50f8d28a5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2b50f8d28a5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2b50f8d28a5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2b50f8d28a5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2b50f8d28a5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2b50f8d28a5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2b560cb990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2b560cb990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2b560cb9908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2b560cb9908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2b560cb9908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2b560cb9908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2b560cb9908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2b560cb9908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2b560cb9908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2b560cb9908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2b560cb9908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2b560cb9908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2b560cb9908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2b560cb9908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2b5871f0d3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2b5871f0d3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2b5b6504a09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2b5b6504a09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2b5b6504a09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2b5b6504a09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2b5b6504a09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2b5b6504a09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2b560cb9908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2b560cb9908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2b560cb9908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2b560cb9908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2b5b6504a0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2b5b6504a0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2b5b6504a09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2b5b6504a09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2b5b6504a09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2b5b6504a09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2b5b6504a09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2b5b6504a09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2b5b6504a09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2b5b6504a09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2b5b6504a09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2b5b6504a09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2b5b6504a09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2b5b6504a09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2690702dc61_17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2690702dc61_17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268f7bfb69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268f7bfb69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268f7bfb690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268f7bfb690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268f7bfb690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268f7bfb690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268f7bfb690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268f7bfb690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268f7bfb690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268f7bfb690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268f7bfb690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268f7bfb690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268f7bfb690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268f7bfb690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268f7bfb690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268f7bfb690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268f7bfb690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" name="Google Shape;333;g268f7bfb690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268f7bfb690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" name="Google Shape;339;g268f7bfb690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268f7bfb690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g268f7bfb690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268f7bfb690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268f7bfb690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268f7bfb690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268f7bfb690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268f7bfb690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" name="Google Shape;363;g268f7bfb690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268f7bfb690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9" name="Google Shape;369;g268f7bfb690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268f7bfb690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5" name="Google Shape;375;g268f7bfb690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268f7bfb690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0" name="Google Shape;380;g268f7bfb690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268f7bfb690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" name="Google Shape;386;g268f7bfb690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268f7bfb690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2" name="Google Shape;392;g268f7bfb690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268f7bfb690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8" name="Google Shape;398;g268f7bfb690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268f7bfb690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4" name="Google Shape;404;g268f7bfb690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268f7bfb690_0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0" name="Google Shape;410;g268f7bfb690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268f7bfb690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5" name="Google Shape;415;g268f7bfb690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9050" y="748800"/>
            <a:ext cx="3645900" cy="3645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2992950" y="992700"/>
            <a:ext cx="3158100" cy="3158100"/>
          </a:xfrm>
          <a:prstGeom prst="rect">
            <a:avLst/>
          </a:prstGeom>
          <a:noFill/>
          <a:ln cap="flat" cmpd="sng" w="28575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096250" y="1627200"/>
            <a:ext cx="2951400" cy="158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096363" y="3266930"/>
            <a:ext cx="2951400" cy="70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509550" y="1423875"/>
            <a:ext cx="8124900" cy="179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311700" y="1391378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2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107950"/>
            <a:ext cx="4045200" cy="168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233100"/>
            <a:ext cx="8520600" cy="161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29194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coral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3096250" y="1627200"/>
            <a:ext cx="2951400" cy="158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SQL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SQL(Structured Query Language)</a:t>
            </a:r>
            <a:endParaRPr/>
          </a:p>
        </p:txBody>
      </p:sp>
      <p:sp>
        <p:nvSpPr>
          <p:cNvPr id="65" name="Google Shape;65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구조화된 질의 언어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관계형 데이터베이스에서 데이터를 관리하고 조작하기 위한 표준화된 언어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DB에서 데이터의 생성, 수정, 삭제, 검색과 같은 다양한 작업을 수행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ANSI(미국 국가 표준 협회)와 ISO(국제 표준화 기구)에서 표준으로 정의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SQL 종류</a:t>
            </a:r>
            <a:endParaRPr/>
          </a:p>
        </p:txBody>
      </p:sp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DDL(Data Definition Language)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데이터 정의 언어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데이터베이스, 테이블, 컬럼을 정의하는 명령어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생성, 수정, 삭제 등의 작업을 수행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DML(Data Manipulation Language)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데이터 조작 언어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데이터를 이용해 CRUD 작업을 수행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C: Create, R : Read, U : Update, D : Delete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SQL 종류</a:t>
            </a:r>
            <a:endParaRPr/>
          </a:p>
        </p:txBody>
      </p:sp>
      <p:sp>
        <p:nvSpPr>
          <p:cNvPr id="77" name="Google Shape;7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DCL(Data Control Language)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데이터 제어 언어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무결성, 회복, 병행 제어 등을 정의하는데 사용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TCL(Transaction Control Language)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트랜잭션 제어 언어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트랜잭션은 DB의 상태를 변화 시키기 위해 수행하는 작업 단위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기본 SQL</a:t>
            </a:r>
            <a:endParaRPr/>
          </a:p>
        </p:txBody>
      </p:sp>
      <p:sp>
        <p:nvSpPr>
          <p:cNvPr id="83" name="Google Shape;83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데이터베이스 리스트 확인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SHOW DATABASES;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데이터베이스 선택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USE 데이터베이스명;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테이블 리스트 확인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SHOW TABLES;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기본 SQL</a:t>
            </a:r>
            <a:endParaRPr/>
          </a:p>
        </p:txBody>
      </p:sp>
      <p:sp>
        <p:nvSpPr>
          <p:cNvPr id="89" name="Google Shape;89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테이블 정보 확인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EXPLAIN 테이블명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DESC 테이블명;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/>
          <p:nvPr>
            <p:ph type="ctrTitle"/>
          </p:nvPr>
        </p:nvSpPr>
        <p:spPr>
          <a:xfrm>
            <a:off x="3096250" y="1627200"/>
            <a:ext cx="2951400" cy="158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DDL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0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DDL</a:t>
            </a:r>
            <a:endParaRPr/>
          </a:p>
        </p:txBody>
      </p:sp>
      <p:graphicFrame>
        <p:nvGraphicFramePr>
          <p:cNvPr id="100" name="Google Shape;100;p20"/>
          <p:cNvGraphicFramePr/>
          <p:nvPr/>
        </p:nvGraphicFramePr>
        <p:xfrm>
          <a:off x="952500" y="1619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{14583D12-B14B-48D6-8EF4-A9D752728F06}</a:tableStyleId>
              </a:tblPr>
              <a:tblGrid>
                <a:gridCol w="3619500"/>
                <a:gridCol w="3619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종류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역할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CREATE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데이터베이스, 테이블 등을 생성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ALTER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데이터베이스, 테이블을 수정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DROP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데이터베이스, 테이블을 삭제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TRUNCATE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테이블을 초기화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DDL - DB </a:t>
            </a:r>
            <a:endParaRPr/>
          </a:p>
        </p:txBody>
      </p:sp>
      <p:sp>
        <p:nvSpPr>
          <p:cNvPr id="106" name="Google Shape;106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데이터 베이스 생성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CREATE DATABASE [IF NOT EXISTS] 데이터베이스명;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CREATE SCHEMA  [IF NOT EXISTS] </a:t>
            </a:r>
            <a:r>
              <a:rPr lang="ko"/>
              <a:t>데이터베이스명;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데이터베이스 삭제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DROP DATABASE [IF EXISTS] 데이터베이스명;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DROP SCHEMA [IF EXISTS] 데이터베이스명;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DDL - DB</a:t>
            </a:r>
            <a:endParaRPr/>
          </a:p>
        </p:txBody>
      </p:sp>
      <p:sp>
        <p:nvSpPr>
          <p:cNvPr id="112" name="Google Shape;112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데이터베이스 문자 집합을 설정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ALTER SCHEMA 데이터베이스명  DEFAULT CHARACTER SET 바꿀CHARATERSET  DEFAULT COLLATE 바꿀COLLATE;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3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DDL - TABLE</a:t>
            </a:r>
            <a:endParaRPr/>
          </a:p>
        </p:txBody>
      </p:sp>
      <p:sp>
        <p:nvSpPr>
          <p:cNvPr id="118" name="Google Shape;118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테이블 생성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CREATE TABLE [IF NOT EXISTS] 테이블명(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	컬럼명 타입	[ZEROFILL] [UNIQUE] [NOT NULL] [DEFAULT 기본값] [PRIMARY KEY][AUTO_INCREMENT] ,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	컬럼명 </a:t>
            </a:r>
            <a:r>
              <a:rPr lang="ko"/>
              <a:t>타입	[ZEROFILL] [UNIQUE] [NOT NULL] [DEFAULT 기본값],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	제약조건,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	CONSTRAINT 제약조건명 PRIMARY KEY(컬럼명),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	CONSTRAINT 제약조건명 FOREIGN KEY(컬럼명) REFERENCES 참조테이블(기본키명),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	CONSTRAINT CHECK(논리식)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);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4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DDL - TABLE</a:t>
            </a:r>
            <a:endParaRPr/>
          </a:p>
        </p:txBody>
      </p:sp>
      <p:sp>
        <p:nvSpPr>
          <p:cNvPr id="124" name="Google Shape;124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ZEROFILL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 앞에 0으로 채울 때 사용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5자리 숫자로 정한 경우, 1을 저장했을 때 나머지 4자리에 0으로 채워짐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UNIQUE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컬럼의 값들이 중복되면 안되는 경우 UNIQUE를 지정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대학생의 주민번호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NOT NULL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컬럼이 NULL값을 가지면 안될 때 사용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DDL - TABLE</a:t>
            </a:r>
            <a:endParaRPr/>
          </a:p>
        </p:txBody>
      </p:sp>
      <p:sp>
        <p:nvSpPr>
          <p:cNvPr id="130" name="Google Shape;130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PRIMARY KEY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기본키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제약조건으로 기본키를 설정할 수도 있지만 컬럼명 옆에 지정할 수 있다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NOT NULL + UNIQUE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AUTO_INCREMENT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정수형 속성에 지정 가능, 기본키에만 추가할 수 있다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데이터를 추가할 때 기본키값을 넣어주지 않으면 자동으로 1증가되어 추가 됨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6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DDL - TABLE</a:t>
            </a:r>
            <a:endParaRPr/>
          </a:p>
        </p:txBody>
      </p:sp>
      <p:sp>
        <p:nvSpPr>
          <p:cNvPr id="136" name="Google Shape;136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테이블 삭제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DROP TABLE [IF EXISTS] 테이블명;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7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DDL - TABLE</a:t>
            </a:r>
            <a:endParaRPr/>
          </a:p>
        </p:txBody>
      </p:sp>
      <p:sp>
        <p:nvSpPr>
          <p:cNvPr id="142" name="Google Shape;142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테이블 수정 - 컬럼 추가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ALTER TABLE 테이블명 ADD 컬럼명 데이터 타입;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테이블 수정 - 컬럼 삭제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ALTER TABLE 테이블명 DROP 컬럼명;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테이블 수정 - 컬럼 수정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ALTER TABLE 테이블명 CHANGE 기존 컬럼명 새컬럼명 데이터타입;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8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DDL - TABLE</a:t>
            </a:r>
            <a:endParaRPr/>
          </a:p>
        </p:txBody>
      </p:sp>
      <p:sp>
        <p:nvSpPr>
          <p:cNvPr id="148" name="Google Shape;148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테이블 수정 - 제약조건 추가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ALTER TABLE 테이블명 ADD CONSTRAINT 제약조건명(컬럼명);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테이블 수정 - 제약조건 삭제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ALTER TABLE 테이블명 DROP 제약조건명;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테이블 초기화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TRUNCATE TABLE 테이블명;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9"/>
          <p:cNvSpPr txBox="1"/>
          <p:nvPr>
            <p:ph type="ctrTitle"/>
          </p:nvPr>
        </p:nvSpPr>
        <p:spPr>
          <a:xfrm>
            <a:off x="3096250" y="1627200"/>
            <a:ext cx="2951400" cy="158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DML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0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DML</a:t>
            </a:r>
            <a:endParaRPr/>
          </a:p>
        </p:txBody>
      </p:sp>
      <p:graphicFrame>
        <p:nvGraphicFramePr>
          <p:cNvPr id="159" name="Google Shape;159;p30"/>
          <p:cNvGraphicFramePr/>
          <p:nvPr/>
        </p:nvGraphicFramePr>
        <p:xfrm>
          <a:off x="952500" y="1619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{14583D12-B14B-48D6-8EF4-A9D752728F06}</a:tableStyleId>
              </a:tblPr>
              <a:tblGrid>
                <a:gridCol w="3619500"/>
                <a:gridCol w="3619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종류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역할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INSERT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데이터 추가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SELECT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데이터 조회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UPDATE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데이터 수정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DELETE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데이터 삭제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1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INSERT</a:t>
            </a:r>
            <a:endParaRPr/>
          </a:p>
        </p:txBody>
      </p:sp>
      <p:sp>
        <p:nvSpPr>
          <p:cNvPr id="165" name="Google Shape;165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INSERT INTO 테이블명(컬럼명1, 컬럼명2, …, 컬럼명N)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VALUES(값1, 값2,..., 값N),(값1,값2,...,값N);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컬럼명을 다 안써도 가능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NULL </a:t>
            </a:r>
            <a:r>
              <a:rPr lang="ko"/>
              <a:t>허용이거나 기본값이 있는 컬럼들은 생략할 수 있다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INSERT INTO 테이블명 VALUES(값1, 값2, …, 값n);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테이블의 </a:t>
            </a:r>
            <a:r>
              <a:rPr lang="ko"/>
              <a:t>컬럼 개수 만큼 값들을 넣어야 함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속성 순서대로 값을 넣어주어야 함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2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INSERT	</a:t>
            </a:r>
            <a:endParaRPr/>
          </a:p>
        </p:txBody>
      </p:sp>
      <p:sp>
        <p:nvSpPr>
          <p:cNvPr id="171" name="Google Shape;171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INSERT INTO 테이블명 SELECT 속성명1, 속성명2, … FROM 테이블명 WHERE 조건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테이블에서 검색된 값을 이용하여 추가할 때 사용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3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UPDATE</a:t>
            </a:r>
            <a:endParaRPr/>
          </a:p>
        </p:txBody>
      </p:sp>
      <p:sp>
        <p:nvSpPr>
          <p:cNvPr id="177" name="Google Shape;177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UPDATE 테이블명 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SET	</a:t>
            </a:r>
            <a:endParaRPr/>
          </a:p>
          <a:p>
            <a:pPr indent="45720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속성명1  = 값1,  </a:t>
            </a:r>
            <a:endParaRPr/>
          </a:p>
          <a:p>
            <a:pPr indent="45720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속성명2 = 값2, </a:t>
            </a:r>
            <a:endParaRPr/>
          </a:p>
          <a:p>
            <a:pPr indent="45720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… ,</a:t>
            </a:r>
            <a:endParaRPr/>
          </a:p>
          <a:p>
            <a:pPr indent="45720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속성명N = 값N  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WHERE 조건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조건에서 같다는 =으로, 같지 않다는 != 또는 &lt;&gt;으로 사용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4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DELETE </a:t>
            </a:r>
            <a:endParaRPr/>
          </a:p>
        </p:txBody>
      </p:sp>
      <p:sp>
        <p:nvSpPr>
          <p:cNvPr id="183" name="Google Shape;183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DELETE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	FROM </a:t>
            </a:r>
            <a:endParaRPr/>
          </a:p>
          <a:p>
            <a:pPr indent="45720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테이블명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	WHERE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		조건;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5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SELECT</a:t>
            </a:r>
            <a:endParaRPr/>
          </a:p>
        </p:txBody>
      </p:sp>
      <p:sp>
        <p:nvSpPr>
          <p:cNvPr id="189" name="Google Shape;189;p35"/>
          <p:cNvSpPr txBox="1"/>
          <p:nvPr>
            <p:ph idx="1" type="body"/>
          </p:nvPr>
        </p:nvSpPr>
        <p:spPr>
          <a:xfrm>
            <a:off x="311700" y="1152475"/>
            <a:ext cx="3899700" cy="26988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SELECT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	속성명1, 속성명2, …, 속성명N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FROM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	테이블명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[WHERE	조건]</a:t>
            </a:r>
            <a:endParaRPr/>
          </a:p>
        </p:txBody>
      </p:sp>
      <p:sp>
        <p:nvSpPr>
          <p:cNvPr id="190" name="Google Shape;190;p35"/>
          <p:cNvSpPr txBox="1"/>
          <p:nvPr/>
        </p:nvSpPr>
        <p:spPr>
          <a:xfrm>
            <a:off x="4416975" y="1152475"/>
            <a:ext cx="3973200" cy="26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-"/>
            </a:pPr>
            <a:r>
              <a:rPr lang="ko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[테이블]에서 [조건]과 일치하는 레코드들 중에서 나열한 [속성들]을 조회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-"/>
            </a:pPr>
            <a:r>
              <a:rPr lang="ko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모든 속성을 조회할 때는 *을 이용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6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SELECT - DISTINCT</a:t>
            </a:r>
            <a:endParaRPr/>
          </a:p>
        </p:txBody>
      </p:sp>
      <p:sp>
        <p:nvSpPr>
          <p:cNvPr id="196" name="Google Shape;196;p36"/>
          <p:cNvSpPr txBox="1"/>
          <p:nvPr/>
        </p:nvSpPr>
        <p:spPr>
          <a:xfrm>
            <a:off x="4416975" y="1152475"/>
            <a:ext cx="3973200" cy="26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-"/>
            </a:pPr>
            <a:r>
              <a:rPr lang="ko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조회한 결과 중 </a:t>
            </a:r>
            <a:r>
              <a:rPr lang="ko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중복된 레코드들을 제거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7" name="Google Shape;197;p36"/>
          <p:cNvSpPr txBox="1"/>
          <p:nvPr>
            <p:ph idx="1" type="body"/>
          </p:nvPr>
        </p:nvSpPr>
        <p:spPr>
          <a:xfrm>
            <a:off x="311700" y="1152475"/>
            <a:ext cx="3899700" cy="26988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SELECT [DISTINCT]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	속성명1, 속성명2, …, 속성명N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FROM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	테이블명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[WHERE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	조건]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7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논리 연산자</a:t>
            </a:r>
            <a:endParaRPr/>
          </a:p>
        </p:txBody>
      </p:sp>
      <p:sp>
        <p:nvSpPr>
          <p:cNvPr id="203" name="Google Shape;203;p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AND : &amp;&amp;연산자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OR : || 연산자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NOT : !연산자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AND </a:t>
            </a:r>
            <a:r>
              <a:rPr lang="ko"/>
              <a:t>연산자가 OR 연산자보다 우선순위가 높다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8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비교 연산자</a:t>
            </a:r>
            <a:endParaRPr/>
          </a:p>
        </p:txBody>
      </p:sp>
      <p:sp>
        <p:nvSpPr>
          <p:cNvPr id="209" name="Google Shape;209;p3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= : 같다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&lt;&gt;, != : 같지 않다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BETWEEN A AND B : A이상 B이하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NOT BETWEEN A AND B : A미만, B초과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속성명 IN (값1, 값2, …, 값N) : 특정값 목록에 속할 때 참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=&gt; (속성 = 값1 or 속성 = 값2 or …. 속성 = 값N)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NOT IN (값1,..., 값N) : 특정값 목록에 속하지 않을 때 참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9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비교 연산자</a:t>
            </a:r>
            <a:endParaRPr/>
          </a:p>
        </p:txBody>
      </p:sp>
      <p:sp>
        <p:nvSpPr>
          <p:cNvPr id="215" name="Google Shape;215;p3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LIKE ‘패턴’ : 패턴과 일치하는 값을 조회할 때 사용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_ : 한 글자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%:0글자 이상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‘홍%’ : 첫글자가 홍으로 시작되는 모든 문장들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‘_ _ _’ : 세글자를 의미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NOT LIKE ‘패턴’ : 패턴과 일치하지 않는 값을 조회할 때 사용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IS NULL : NULL이면 참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IS NOT NULL : NULL이 아니면 참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40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SELECT - 정렬</a:t>
            </a:r>
            <a:endParaRPr/>
          </a:p>
        </p:txBody>
      </p:sp>
      <p:sp>
        <p:nvSpPr>
          <p:cNvPr id="221" name="Google Shape;221;p40"/>
          <p:cNvSpPr txBox="1"/>
          <p:nvPr>
            <p:ph idx="1" type="body"/>
          </p:nvPr>
        </p:nvSpPr>
        <p:spPr>
          <a:xfrm>
            <a:off x="311700" y="1152475"/>
            <a:ext cx="3899700" cy="35280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SELECT [DISTINCT]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	속성명1, 속성명2, …, 속성명N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FROM 테이블명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[WHERE 조건]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[ORDER BY 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속성명1 [ASC|DESC]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 [, 속성명1 [ASC|DESC]]]</a:t>
            </a:r>
            <a:endParaRPr/>
          </a:p>
        </p:txBody>
      </p:sp>
      <p:sp>
        <p:nvSpPr>
          <p:cNvPr id="222" name="Google Shape;222;p40"/>
          <p:cNvSpPr txBox="1"/>
          <p:nvPr/>
        </p:nvSpPr>
        <p:spPr>
          <a:xfrm>
            <a:off x="4416975" y="1152475"/>
            <a:ext cx="3973200" cy="26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-"/>
            </a:pPr>
            <a:r>
              <a:rPr lang="ko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조회한 레코드들을 ORDER BY에 나열한 속성들 순으로 정렬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-"/>
            </a:pPr>
            <a:r>
              <a:rPr lang="ko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ASC : 오름 차순, 생략하면 ASC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-"/>
            </a:pPr>
            <a:r>
              <a:rPr lang="ko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DESC : 내림차순 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41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SELECT - LIMIT</a:t>
            </a:r>
            <a:endParaRPr/>
          </a:p>
        </p:txBody>
      </p:sp>
      <p:sp>
        <p:nvSpPr>
          <p:cNvPr id="228" name="Google Shape;228;p41"/>
          <p:cNvSpPr txBox="1"/>
          <p:nvPr>
            <p:ph idx="1" type="body"/>
          </p:nvPr>
        </p:nvSpPr>
        <p:spPr>
          <a:xfrm>
            <a:off x="311700" y="1152475"/>
            <a:ext cx="3899700" cy="35280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SELECT [DISTINCT] 속성들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FROM 테이블명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[WHERE 조건]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[ORDER BY 속성명1 [ASC|DESC]]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[LIMIT 시작번지, 개수]</a:t>
            </a:r>
            <a:endParaRPr/>
          </a:p>
        </p:txBody>
      </p:sp>
      <p:sp>
        <p:nvSpPr>
          <p:cNvPr id="229" name="Google Shape;229;p41"/>
          <p:cNvSpPr txBox="1"/>
          <p:nvPr/>
        </p:nvSpPr>
        <p:spPr>
          <a:xfrm>
            <a:off x="4416975" y="1152475"/>
            <a:ext cx="3973200" cy="352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-"/>
            </a:pPr>
            <a:r>
              <a:rPr lang="ko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조회한 레코드들 중에서 원하는 위치부터 원하는 개수만 가져올 때 사용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-"/>
            </a:pPr>
            <a:r>
              <a:rPr lang="ko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시작번지는 0번지부터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-"/>
            </a:pPr>
            <a:r>
              <a:rPr lang="ko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페이지네이션을 이용할 때 사용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42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SELECT - 그룹화</a:t>
            </a:r>
            <a:endParaRPr/>
          </a:p>
        </p:txBody>
      </p:sp>
      <p:sp>
        <p:nvSpPr>
          <p:cNvPr id="235" name="Google Shape;235;p42"/>
          <p:cNvSpPr txBox="1"/>
          <p:nvPr>
            <p:ph idx="1" type="body"/>
          </p:nvPr>
        </p:nvSpPr>
        <p:spPr>
          <a:xfrm>
            <a:off x="311700" y="1152475"/>
            <a:ext cx="3899700" cy="35280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SELECT [DISTINCT] 속성들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FROM 테이블명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[WHERE 조건]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[GROUP BY 속성명1 [, 속성명2, … ]]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[HAVING 조건]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[ORDER BY 속성명1 [ASC|DESC]]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[LIMIT 시작번지, 개수]</a:t>
            </a:r>
            <a:endParaRPr/>
          </a:p>
        </p:txBody>
      </p:sp>
      <p:sp>
        <p:nvSpPr>
          <p:cNvPr id="236" name="Google Shape;236;p42"/>
          <p:cNvSpPr txBox="1"/>
          <p:nvPr/>
        </p:nvSpPr>
        <p:spPr>
          <a:xfrm>
            <a:off x="4416975" y="1152475"/>
            <a:ext cx="3973200" cy="352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-"/>
            </a:pPr>
            <a:r>
              <a:rPr lang="ko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레코드들을 그룹으로 묶어서 처리할 때 사용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-"/>
            </a:pPr>
            <a:r>
              <a:rPr lang="ko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집계 함수들을 함께 사용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-"/>
            </a:pPr>
            <a:r>
              <a:rPr lang="ko" sz="180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집계 함수를 이용하여 조건을 걸어줄 땐</a:t>
            </a:r>
            <a:r>
              <a:rPr lang="ko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, WHERE절이 아닌 </a:t>
            </a:r>
            <a:r>
              <a:rPr lang="ko" sz="180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HAVING절</a:t>
            </a:r>
            <a:r>
              <a:rPr lang="ko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에 조건을 넣어야 함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43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집계함수</a:t>
            </a:r>
            <a:endParaRPr/>
          </a:p>
        </p:txBody>
      </p:sp>
      <p:sp>
        <p:nvSpPr>
          <p:cNvPr id="242" name="Google Shape;242;p4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>
                <a:solidFill>
                  <a:srgbClr val="FF0000"/>
                </a:solidFill>
              </a:rPr>
              <a:t>COUNT(속성명)</a:t>
            </a:r>
            <a:r>
              <a:rPr lang="ko"/>
              <a:t> : 개수를 계산할 때 사용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SUM(속성명) : 합을 계산할 때 사용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AVG(속성명) : 평균을 계산할 때 사용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MIN(속성명) : 해당 속성의 값들 중 최소값을 찾을 때 사용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MAX(속성명) : </a:t>
            </a:r>
            <a:r>
              <a:rPr lang="ko"/>
              <a:t>해당 속성의 값들 중 최대값을 찾을 때 사용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44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JOIN</a:t>
            </a:r>
            <a:endParaRPr/>
          </a:p>
        </p:txBody>
      </p:sp>
      <p:sp>
        <p:nvSpPr>
          <p:cNvPr id="248" name="Google Shape;248;p4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2개 </a:t>
            </a:r>
            <a:r>
              <a:rPr lang="ko"/>
              <a:t>이상의 테이블을 묶어서 하나의 결과 테이블을 만드는 것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INNER JOIN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두 집합의 교집합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OUTER JOIN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두 집합의 합집합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SELF JOIN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자기 자신과 JOIN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45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INNER JOIN과 OUTER JOIN의 </a:t>
            </a:r>
            <a:r>
              <a:rPr lang="ko"/>
              <a:t>차이</a:t>
            </a:r>
            <a:endParaRPr/>
          </a:p>
        </p:txBody>
      </p:sp>
      <p:sp>
        <p:nvSpPr>
          <p:cNvPr id="254" name="Google Shape;254;p4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쇼핑몰에서 판매된 제품의 개수를 조회하기 위해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INNER JOIN을 이용했다면?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판매된 제품들 중에서 판매된 개수만 조회됨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OUTER JOIN을 이용했다면?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전체 제품들 중에서 판매된 개수가 조회됨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46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INNER JOIN</a:t>
            </a:r>
            <a:endParaRPr/>
          </a:p>
        </p:txBody>
      </p:sp>
      <p:sp>
        <p:nvSpPr>
          <p:cNvPr id="260" name="Google Shape;260;p46"/>
          <p:cNvSpPr txBox="1"/>
          <p:nvPr>
            <p:ph idx="1" type="body"/>
          </p:nvPr>
        </p:nvSpPr>
        <p:spPr>
          <a:xfrm>
            <a:off x="311700" y="1152475"/>
            <a:ext cx="4163100" cy="34164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SELECT </a:t>
            </a:r>
            <a:r>
              <a:rPr lang="ko"/>
              <a:t>속성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FROM 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테이블1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JOIN 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테이블2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ON 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테이블1.속성명 = 테이블2.속성명;</a:t>
            </a:r>
            <a:endParaRPr/>
          </a:p>
        </p:txBody>
      </p:sp>
      <p:sp>
        <p:nvSpPr>
          <p:cNvPr id="261" name="Google Shape;261;p46"/>
          <p:cNvSpPr txBox="1"/>
          <p:nvPr/>
        </p:nvSpPr>
        <p:spPr>
          <a:xfrm>
            <a:off x="4416975" y="1152475"/>
            <a:ext cx="3973200" cy="26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-"/>
            </a:pPr>
            <a:r>
              <a:rPr lang="ko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두 테이블 교집합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-"/>
            </a:pPr>
            <a:r>
              <a:rPr lang="ko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테이블2가 테이블1에 참조되고 있으면, 테이블1에는 외래키, 테이블2에는 기본키로 연결하면 된다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47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OUTER JOIN</a:t>
            </a:r>
            <a:endParaRPr/>
          </a:p>
        </p:txBody>
      </p:sp>
      <p:sp>
        <p:nvSpPr>
          <p:cNvPr id="267" name="Google Shape;267;p47"/>
          <p:cNvSpPr txBox="1"/>
          <p:nvPr>
            <p:ph idx="1" type="body"/>
          </p:nvPr>
        </p:nvSpPr>
        <p:spPr>
          <a:xfrm>
            <a:off x="311700" y="1152475"/>
            <a:ext cx="4163100" cy="34164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SELECT 속성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FROM 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테이블1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LEFT|RIGHT JOIN 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테이블2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ON 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테이블1.속성명 = 테이블2.속성명;</a:t>
            </a:r>
            <a:endParaRPr/>
          </a:p>
        </p:txBody>
      </p:sp>
      <p:sp>
        <p:nvSpPr>
          <p:cNvPr id="268" name="Google Shape;268;p47"/>
          <p:cNvSpPr txBox="1"/>
          <p:nvPr/>
        </p:nvSpPr>
        <p:spPr>
          <a:xfrm>
            <a:off x="4416975" y="1152475"/>
            <a:ext cx="3973200" cy="26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-"/>
            </a:pPr>
            <a:r>
              <a:rPr lang="ko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두 테이블 합집합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-"/>
            </a:pPr>
            <a:r>
              <a:rPr lang="ko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LEFT JOIN은 </a:t>
            </a:r>
            <a:r>
              <a:rPr lang="ko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테이블1을 기준으로 테이블2를 연결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-"/>
            </a:pPr>
            <a:r>
              <a:rPr lang="ko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RIGHT JOIN은 테이블2를 기준으로 테이블1을 연결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48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SELF JOIN</a:t>
            </a:r>
            <a:endParaRPr/>
          </a:p>
        </p:txBody>
      </p:sp>
      <p:sp>
        <p:nvSpPr>
          <p:cNvPr id="274" name="Google Shape;274;p48"/>
          <p:cNvSpPr txBox="1"/>
          <p:nvPr>
            <p:ph idx="1" type="body"/>
          </p:nvPr>
        </p:nvSpPr>
        <p:spPr>
          <a:xfrm>
            <a:off x="311700" y="1152475"/>
            <a:ext cx="4163100" cy="34164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SELECT 속성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FROM 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테이블1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JOIN 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테이블1 AS 테이블2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ON 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테이블1.속성명 = 테이블2.속성명;</a:t>
            </a:r>
            <a:endParaRPr/>
          </a:p>
        </p:txBody>
      </p:sp>
      <p:sp>
        <p:nvSpPr>
          <p:cNvPr id="275" name="Google Shape;275;p48"/>
          <p:cNvSpPr txBox="1"/>
          <p:nvPr/>
        </p:nvSpPr>
        <p:spPr>
          <a:xfrm>
            <a:off x="4416975" y="1152475"/>
            <a:ext cx="3973200" cy="26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-"/>
            </a:pPr>
            <a:r>
              <a:rPr lang="ko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자기 자신 테이블을 연결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-"/>
            </a:pPr>
            <a:r>
              <a:rPr lang="ko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사원 테이블에서 직속상사라는 속성이 있을 때, 직속상사는 사원 중 한명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-"/>
            </a:pPr>
            <a:r>
              <a:rPr lang="ko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이럴 때 SELF JOIN을 이용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49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JOIN USING</a:t>
            </a:r>
            <a:endParaRPr/>
          </a:p>
        </p:txBody>
      </p:sp>
      <p:sp>
        <p:nvSpPr>
          <p:cNvPr id="281" name="Google Shape;281;p49"/>
          <p:cNvSpPr txBox="1"/>
          <p:nvPr>
            <p:ph idx="1" type="body"/>
          </p:nvPr>
        </p:nvSpPr>
        <p:spPr>
          <a:xfrm>
            <a:off x="311700" y="1152475"/>
            <a:ext cx="4163100" cy="34164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SELECT 속성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FROM 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테이블1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JOIN 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테이블1 AS 테이블2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USING(속성명);</a:t>
            </a:r>
            <a:endParaRPr/>
          </a:p>
        </p:txBody>
      </p:sp>
      <p:sp>
        <p:nvSpPr>
          <p:cNvPr id="282" name="Google Shape;282;p49"/>
          <p:cNvSpPr txBox="1"/>
          <p:nvPr/>
        </p:nvSpPr>
        <p:spPr>
          <a:xfrm>
            <a:off x="4416975" y="1152475"/>
            <a:ext cx="3973200" cy="26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-"/>
            </a:pPr>
            <a:r>
              <a:rPr lang="ko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테이블1과 테이블2가 같은 속성명으로 JOIN이 될 때 사용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50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서브 쿼리</a:t>
            </a:r>
            <a:endParaRPr/>
          </a:p>
        </p:txBody>
      </p:sp>
      <p:sp>
        <p:nvSpPr>
          <p:cNvPr id="288" name="Google Shape;288;p5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쿼리 안에 있는 쿼리를 서브 쿼리라고 한다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서브 쿼리는 select문으로 되어 있다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장점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쿼리를 구조화 시킨다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join보다 가독성이 좋다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join할 때 서브쿼리를 이용하면 속도를 향상 시킬 수 있다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ko"/>
              <a:t>홍길동이 KH학원에 다니는 아들을 찾으러 왔다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ko"/>
              <a:t>단순 join : 모든 KH학원에 다니는 학생들 모아서 성이 홍씨이고, 남자인 학생을 찾음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ko"/>
              <a:t>서브쿼리 join : 각 반별로 학생들 중 성이 홍씨인 학생들과 성별이 남자인 학생들을 모아서 학생을 찾음 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51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서브쿼리 - 사용 가능 위치</a:t>
            </a:r>
            <a:endParaRPr/>
          </a:p>
        </p:txBody>
      </p:sp>
      <p:sp>
        <p:nvSpPr>
          <p:cNvPr id="294" name="Google Shape;294;p5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select문에서 속성 대신에 서브쿼리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from 테이블에서 테이블명 대신에 서브쿼리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where절에서 특정 값 대신에 서브쿼리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ko"/>
              <a:t>any, all, in등을 이용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having절에서 특정 값 대신에 서브쿼리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order by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insert문에서 insert values 대신에 insert select문을 이용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update문에서 값을 바꿀 때 바꿀 값으로 서브쿼리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52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내장 함수 - 조건</a:t>
            </a:r>
            <a:endParaRPr/>
          </a:p>
        </p:txBody>
      </p:sp>
      <p:sp>
        <p:nvSpPr>
          <p:cNvPr id="300" name="Google Shape;300;p5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if(수식, 수식1, 수식2) : 수식이 참이면 수식1을, 거짓이면 수식2을 반환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ifnull(수식1, 수식2) : 수식1이 null이면 수식2, 아니면 수식1을 반환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nullif(수식1, 수식2) : 수식1과 수식2과 같으면 null을 다르면 수식1을 반환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case  속성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	when 값 then 결과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	else 결과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end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53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내장 함수 - 문자열</a:t>
            </a:r>
            <a:endParaRPr/>
          </a:p>
        </p:txBody>
      </p:sp>
      <p:sp>
        <p:nvSpPr>
          <p:cNvPr id="306" name="Google Shape;306;p5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char_length(문자열) : 문자열의 개수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length(문자열) : 바이트 수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concat(문자열1,문자열2,...) : 문자열을 이어 붙임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field(찾을 문자열, 문자열1, 문자열2, …) : 찾을 문자열의 위치를 찾아 반환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instr(기준문자열, 부분문자열) : 기준 문자열에서 부분 문자열을 찾아 시작 위치를 반환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locate(부분문자열, 기준문자열) : </a:t>
            </a:r>
            <a:r>
              <a:rPr lang="ko"/>
              <a:t>기준 문자열에서 부분 문자열을 찾아 시작 위치를 반환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54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내장 함수 - 문자열</a:t>
            </a:r>
            <a:endParaRPr/>
          </a:p>
        </p:txBody>
      </p:sp>
      <p:sp>
        <p:nvSpPr>
          <p:cNvPr id="312" name="Google Shape;312;p5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format(숫자, </a:t>
            </a:r>
            <a:r>
              <a:rPr lang="ko"/>
              <a:t>소수점</a:t>
            </a:r>
            <a:r>
              <a:rPr lang="ko"/>
              <a:t> 자리수) : 숫자를 소수점 이하 자리까지 표현, 1000단위마다 ,추가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bin(숫자), oct(숫자), hex(숫자) : 2,8,16진수로 반환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insert(기준문자열, 위치, 길이, 삽입할 문자열) : 기준문자열의 위치부터 길이만큼 지우고 삽입할 문자열을 끼움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left(문자열, 길이), right(문자열, 길이) : 왼쪽/오른쪽에서 문자열의 길이만큼 반환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lower(문자열), upper(문자열) : 소문자로/대문자로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lpad(문자열, 길이, 채울문자열)/rpad : 문자열을 길이만큼 늘리고 빈 곳을 채울 문자열로 채움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55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내장 함수 - 문자열</a:t>
            </a:r>
            <a:endParaRPr/>
          </a:p>
        </p:txBody>
      </p:sp>
      <p:sp>
        <p:nvSpPr>
          <p:cNvPr id="318" name="Google Shape;318;p5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ltrim, rtrim, trim(문자열) : 문자열의 왼쪽, 오른쪽, 양쪽 공백을 제거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repeat(문자열, 횟수) : 문자열을 횟수만큼 반복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replace(문자열, 원래 문자열, 바꿀 문자열) : 문자열에서 원래 문자열을 찾아 바꿀 문자열로 교체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reverse(문자열) : 문자열 순서를 바꾸어 반환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substring(문자열, 시작위치, 길이) : 문자열에서 시작위치부터 </a:t>
            </a:r>
            <a:r>
              <a:rPr lang="ko"/>
              <a:t>길이</a:t>
            </a:r>
            <a:r>
              <a:rPr lang="ko"/>
              <a:t>만큼의 부분 문자열을 반환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56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내장 함수 - 날짜/시간 함수</a:t>
            </a:r>
            <a:endParaRPr/>
          </a:p>
        </p:txBody>
      </p:sp>
      <p:sp>
        <p:nvSpPr>
          <p:cNvPr id="324" name="Google Shape;324;p5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ADDDATE/SUBDATE(날짜, 차이) : 날짜를 기준으로 차이만큼 일을 더한/뺀 날짜를 반환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ADDTIME/SUBTIME(날짜/시간, 차이) : 날짜/시간을 기준으로 차이만큼 시간을 더한/뺀 날짜/시간을 반환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YEAR/MONTH/DAY(날짜) : 날짜에서 년/월/일을 구함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HOUR/MINUTE/SECOND/MICROSECOND(시간) : 시간에서 시 /분 /초 /마이크로초를 구함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DATE/TIME(날짜) : 날짜에서 년-월-일/시:분:초만 추출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57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내장 함수 - 날짜/시간 함수</a:t>
            </a:r>
            <a:endParaRPr/>
          </a:p>
        </p:txBody>
      </p:sp>
      <p:sp>
        <p:nvSpPr>
          <p:cNvPr id="330" name="Google Shape;330;p5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DATEDIFF(날짜1, 날짜2) : 날짜1에서 날짜2의 차이를 일로 반환. 날짜1 - 날짜2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TIMEDIFF(날짜/시간1, 날짜/시간2) : 날짜/시간1에서 날짜/시간2의 차이를 시간:분:초로 반환. 날짜/시간1 - 날짜/시간2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NOW()/SYSDATE() : 현재 날짜와 시간을 반환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58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내장 함수 - 날짜/시간 함수</a:t>
            </a:r>
            <a:endParaRPr/>
          </a:p>
        </p:txBody>
      </p:sp>
      <p:sp>
        <p:nvSpPr>
          <p:cNvPr id="336" name="Google Shape;336;p5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DATE_ADD/DATE_SUB(기준날짜, INTERVAL) : 기준 날짜에서 INTERVAL만큼 더한/뺀 날짜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INSERVAL 종류(시간 유형)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YEAR/MONTH/DAY : 년/월/일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HOUR/MINUTE/SECOND/MICROSECOND : 시/분/초/마이크로초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QUARTER/WEEK : 분기/달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59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내장 함수 - 날짜/시간 함수</a:t>
            </a:r>
            <a:endParaRPr/>
          </a:p>
        </p:txBody>
      </p:sp>
      <p:sp>
        <p:nvSpPr>
          <p:cNvPr id="342" name="Google Shape;342;p5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INSERVAL 종류(조</a:t>
            </a:r>
            <a:r>
              <a:rPr lang="ko"/>
              <a:t>합</a:t>
            </a:r>
            <a:r>
              <a:rPr lang="ko"/>
              <a:t> 유형)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YEAR_MONTH : 년 월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DAY_HOUR : 일 시간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DAY_MINUTE : 일 시간:분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DAY_MICROSECOND : 일 시간:분:초.마이크로초</a:t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60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윈도우 함수</a:t>
            </a:r>
            <a:endParaRPr/>
          </a:p>
        </p:txBody>
      </p:sp>
      <p:sp>
        <p:nvSpPr>
          <p:cNvPr id="348" name="Google Shape;348;p6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테이블의 행과 행 사이의 관계를 정의하기 위해 제공하는 함수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OVER절이 들어간 함수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순위를 표현할 때 사용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61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윈도우 함수 - 순위함수</a:t>
            </a:r>
            <a:endParaRPr/>
          </a:p>
        </p:txBody>
      </p:sp>
      <p:sp>
        <p:nvSpPr>
          <p:cNvPr id="354" name="Google Shape;354;p6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ROW_NUMBER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값이 같더라도 다른 번호를 부여 하는 방식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SELECT 속성들, ROW_NUMBER() OVER(ORDER BY 정렬) AS `RANK` FROM 테이블</a:t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62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윈도우 함수 - 순위함수</a:t>
            </a:r>
            <a:endParaRPr/>
          </a:p>
        </p:txBody>
      </p:sp>
      <p:sp>
        <p:nvSpPr>
          <p:cNvPr id="360" name="Google Shape;360;p6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RANK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같이 같으면 같은 등수로 표시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다음 등수는 같은 등수만큼 건너 뛰어서 숫자가 증가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1등이 2명이면 다음 등수는 3등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SELECT 속성들, RANK() OVER(ORDER BY 정렬) AS `RANK` FROM 테이블</a:t>
            </a:r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63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윈도우 함수 - 순위함수</a:t>
            </a:r>
            <a:endParaRPr/>
          </a:p>
        </p:txBody>
      </p:sp>
      <p:sp>
        <p:nvSpPr>
          <p:cNvPr id="366" name="Google Shape;366;p6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DENSE_</a:t>
            </a:r>
            <a:r>
              <a:rPr lang="ko"/>
              <a:t>RANK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같이 같으면 같은 등수로 표시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다음 등수는 이어서 진행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1등이 2명이면 다음 등수는 2등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SELECT 속성들, DENSE_RANK() OVER(ORDER BY 정렬) AS `RANK` FROM 테이블</a:t>
            </a: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64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윈도우 함수 - 순위함수</a:t>
            </a:r>
            <a:endParaRPr/>
          </a:p>
        </p:txBody>
      </p:sp>
      <p:sp>
        <p:nvSpPr>
          <p:cNvPr id="372" name="Google Shape;372;p6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NTILE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검색 결과 전체를 지정된 그룹으로 분할하여 번호를 할당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SELECT 속성들, </a:t>
            </a:r>
            <a:r>
              <a:rPr lang="ko"/>
              <a:t>NTILE</a:t>
            </a:r>
            <a:r>
              <a:rPr lang="ko"/>
              <a:t>(그룹수) OVER(ORDER BY 정렬) AS `그룹번호` FROM 테이블</a:t>
            </a:r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65"/>
          <p:cNvSpPr txBox="1"/>
          <p:nvPr>
            <p:ph type="ctrTitle"/>
          </p:nvPr>
        </p:nvSpPr>
        <p:spPr>
          <a:xfrm>
            <a:off x="3096250" y="1627200"/>
            <a:ext cx="2951400" cy="158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DCL</a:t>
            </a:r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66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사용자 추가</a:t>
            </a:r>
            <a:endParaRPr/>
          </a:p>
        </p:txBody>
      </p:sp>
      <p:sp>
        <p:nvSpPr>
          <p:cNvPr id="383" name="Google Shape;383;p6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CREATE USER ‘사용자아이디’@’호스트명’ IDENTIFIED BY ‘비밀번호’;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호스트명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‘localhost’ : 내부에서만 접근 가능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‘%’ : 외부에서도 접근 가능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SELECT User, Host FROM mysql.user;</a:t>
            </a:r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67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사용자 비번 변경</a:t>
            </a:r>
            <a:endParaRPr/>
          </a:p>
        </p:txBody>
      </p:sp>
      <p:sp>
        <p:nvSpPr>
          <p:cNvPr id="389" name="Google Shape;389;p6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ko"/>
              <a:t>SET PASSWORD FOR 'username'@'hostname' = 'new_password';</a:t>
            </a:r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68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사용자 제거</a:t>
            </a:r>
            <a:endParaRPr/>
          </a:p>
        </p:txBody>
      </p:sp>
      <p:sp>
        <p:nvSpPr>
          <p:cNvPr id="395" name="Google Shape;395;p6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ko"/>
              <a:t>DROP USER ‘사용자아이디’@’호스트명’;</a:t>
            </a:r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69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권한 부여</a:t>
            </a:r>
            <a:endParaRPr/>
          </a:p>
        </p:txBody>
      </p:sp>
      <p:sp>
        <p:nvSpPr>
          <p:cNvPr id="401" name="Google Shape;401;p6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GRANT 권한종류 ON DB명.테이블명 TO ‘계정아이디’@’호스트명’;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권한 종류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ALL </a:t>
            </a:r>
            <a:r>
              <a:rPr lang="ko"/>
              <a:t>PRIVILEGES </a:t>
            </a:r>
            <a:r>
              <a:rPr lang="ko"/>
              <a:t>: 모든 권한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SELECT/INSERT/UPDATE/DELETE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CREATE/ALTER/DROP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REFERENCES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등</a:t>
            </a:r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70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권한 제거</a:t>
            </a:r>
            <a:endParaRPr/>
          </a:p>
        </p:txBody>
      </p:sp>
      <p:sp>
        <p:nvSpPr>
          <p:cNvPr id="407" name="Google Shape;407;p7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REVOKE </a:t>
            </a:r>
            <a:r>
              <a:rPr lang="ko"/>
              <a:t>권한종류ON DB명.테이블명 FROM ‘계정아이디’@’호스트명’;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권한 종류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ALL PRIVILEGES : 모든 권한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SELECT/INSERT/UPDATE/DELETE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CREATE/ALTER/DROP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REFERENCES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등</a:t>
            </a:r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71"/>
          <p:cNvSpPr txBox="1"/>
          <p:nvPr>
            <p:ph type="ctrTitle"/>
          </p:nvPr>
        </p:nvSpPr>
        <p:spPr>
          <a:xfrm>
            <a:off x="3096250" y="1627200"/>
            <a:ext cx="2951400" cy="158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T</a:t>
            </a:r>
            <a:r>
              <a:rPr lang="ko"/>
              <a:t>CL</a:t>
            </a:r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72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트랜잭션 제어</a:t>
            </a:r>
            <a:endParaRPr/>
          </a:p>
        </p:txBody>
      </p:sp>
      <p:sp>
        <p:nvSpPr>
          <p:cNvPr id="418" name="Google Shape;418;p7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START TRANSACTION/BEGIN/BEGIN WORK : 트랜잭션 시작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SAVEPOINT 저장명 : 임시 저장할 이름을 지정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ROLLBACK TO 저장명 : 저장명전까지 되돌리기를 함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ROLLBACK : 트랜잭션 시작전까지 되돌리기를 함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COMMIT : 지금까지 했던 작업을 반영 함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oral">
  <a:themeElements>
    <a:clrScheme name="Coral">
      <a:dk1>
        <a:srgbClr val="F55E61"/>
      </a:dk1>
      <a:lt1>
        <a:srgbClr val="FFFFFF"/>
      </a:lt1>
      <a:dk2>
        <a:srgbClr val="5E696C"/>
      </a:dk2>
      <a:lt2>
        <a:srgbClr val="BFC7CA"/>
      </a:lt2>
      <a:accent1>
        <a:srgbClr val="1E2D31"/>
      </a:accent1>
      <a:accent2>
        <a:srgbClr val="273C42"/>
      </a:accent2>
      <a:accent3>
        <a:srgbClr val="83D061"/>
      </a:accent3>
      <a:accent4>
        <a:srgbClr val="F6CD4C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